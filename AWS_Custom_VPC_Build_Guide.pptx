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640080"/>
            <a:ext cx="2834640" cy="2286000"/>
          </a:xfrm>
          <a:prstGeom prst="roundRect">
            <a:avLst>
              <a:gd name="adj" fmla="val 4000"/>
            </a:avLst>
          </a:prstGeom>
          <a:solidFill>
            <a:srgbClr val="24316E"/>
          </a:solidFill>
          <a:ln w="19050">
            <a:solidFill>
              <a:srgbClr val="1C729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006840" y="914400"/>
            <a:ext cx="1143000" cy="822960"/>
          </a:xfrm>
          <a:prstGeom prst="roundRect">
            <a:avLst>
              <a:gd name="adj" fmla="val 8889"/>
            </a:avLst>
          </a:prstGeom>
          <a:solidFill>
            <a:srgbClr val="1C7293"/>
          </a:solidFill>
          <a:ln/>
        </p:spPr>
      </p:sp>
      <p:sp>
        <p:nvSpPr>
          <p:cNvPr id="4" name="Shape 2"/>
          <p:cNvSpPr/>
          <p:nvPr/>
        </p:nvSpPr>
        <p:spPr>
          <a:xfrm>
            <a:off x="10241280" y="914400"/>
            <a:ext cx="1143000" cy="822960"/>
          </a:xfrm>
          <a:prstGeom prst="roundRect">
            <a:avLst>
              <a:gd name="adj" fmla="val 8889"/>
            </a:avLst>
          </a:prstGeom>
          <a:solidFill>
            <a:srgbClr val="FF990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006840" y="914400"/>
            <a:ext cx="1143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0241280" y="914400"/>
            <a:ext cx="1143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9006840" y="1965960"/>
            <a:ext cx="2377440" cy="0"/>
          </a:xfrm>
          <a:prstGeom prst="line">
            <a:avLst/>
          </a:prstGeom>
          <a:noFill/>
          <a:ln w="15875">
            <a:solidFill>
              <a:srgbClr val="CADCFC"/>
            </a:solidFill>
            <a:prstDash val="dash"/>
          </a:ln>
        </p:spPr>
      </p:sp>
      <p:sp>
        <p:nvSpPr>
          <p:cNvPr id="8" name="Text 6"/>
          <p:cNvSpPr txBox="1"/>
          <p:nvPr/>
        </p:nvSpPr>
        <p:spPr>
          <a:xfrm>
            <a:off x="8778240" y="201168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VPC 10.0.0.0/16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15544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LAB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594360" y="196596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Building a Custom AWS VPC</a:t>
            </a:r>
            <a:endParaRPr lang="en-US" sz="44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297180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Two-Subnet Architecture with Internet Access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640080" y="3977640"/>
            <a:ext cx="1463040" cy="457200"/>
          </a:xfrm>
          <a:prstGeom prst="roundRect">
            <a:avLst>
              <a:gd name="adj" fmla="val 50000"/>
            </a:avLst>
          </a:prstGeom>
          <a:solidFill>
            <a:srgbClr val="24316E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0080" y="397764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VPC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286000" y="3977640"/>
            <a:ext cx="2066544" cy="457200"/>
          </a:xfrm>
          <a:prstGeom prst="roundRect">
            <a:avLst>
              <a:gd name="adj" fmla="val 50000"/>
            </a:avLst>
          </a:prstGeom>
          <a:solidFill>
            <a:srgbClr val="24316E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2286000" y="3977640"/>
            <a:ext cx="20665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+ DB Subnets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35424" y="3977640"/>
            <a:ext cx="2066544" cy="457200"/>
          </a:xfrm>
          <a:prstGeom prst="roundRect">
            <a:avLst>
              <a:gd name="adj" fmla="val 50000"/>
            </a:avLst>
          </a:prstGeom>
          <a:solidFill>
            <a:srgbClr val="24316E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535424" y="3977640"/>
            <a:ext cx="20665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Internet Gateway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784848" y="3977640"/>
            <a:ext cx="2267712" cy="457200"/>
          </a:xfrm>
          <a:prstGeom prst="roundRect">
            <a:avLst>
              <a:gd name="adj" fmla="val 50000"/>
            </a:avLst>
          </a:prstGeom>
          <a:solidFill>
            <a:srgbClr val="24316E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784848" y="3977640"/>
            <a:ext cx="22677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Route Table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9235440" y="3977640"/>
            <a:ext cx="2167128" cy="457200"/>
          </a:xfrm>
          <a:prstGeom prst="roundRect">
            <a:avLst>
              <a:gd name="adj" fmla="val 50000"/>
            </a:avLst>
          </a:prstGeom>
          <a:solidFill>
            <a:srgbClr val="24316E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9235440" y="3977640"/>
            <a:ext cx="21671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EC2 in App Subnet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640080" y="60350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FB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Step-by-step console walkthrough  •  8 stages  •  AWS Management Console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164592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Target Architecture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56692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ARE BUILDING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349240" y="1417320"/>
            <a:ext cx="1463040" cy="685800"/>
          </a:xfrm>
          <a:prstGeom prst="ellipse">
            <a:avLst/>
          </a:prstGeom>
          <a:solidFill>
            <a:srgbClr val="E4E9F5"/>
          </a:solidFill>
          <a:ln w="12700">
            <a:solidFill>
              <a:srgbClr val="5B647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349240" y="1417320"/>
            <a:ext cx="1463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Internet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257800" y="2331720"/>
            <a:ext cx="1645920" cy="548640"/>
          </a:xfrm>
          <a:prstGeom prst="roundRect">
            <a:avLst>
              <a:gd name="adj" fmla="val 13333"/>
            </a:avLst>
          </a:prstGeom>
          <a:solidFill>
            <a:srgbClr val="FF9900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257800" y="233172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Internet Gateway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080760" y="2103120"/>
            <a:ext cx="0" cy="228600"/>
          </a:xfrm>
          <a:prstGeom prst="line">
            <a:avLst/>
          </a:prstGeom>
          <a:noFill/>
          <a:ln w="15875">
            <a:solidFill>
              <a:srgbClr val="5B647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14400" y="3063240"/>
            <a:ext cx="10332720" cy="2880360"/>
          </a:xfrm>
          <a:prstGeom prst="roundRect">
            <a:avLst>
              <a:gd name="adj" fmla="val 2540"/>
            </a:avLst>
          </a:prstGeom>
          <a:solidFill>
            <a:srgbClr val="FFFFFF"/>
          </a:solidFill>
          <a:ln w="22225">
            <a:solidFill>
              <a:srgbClr val="1E2761"/>
            </a:solidFill>
            <a:prstDash val="dash"/>
          </a:ln>
        </p:spPr>
      </p:sp>
      <p:sp>
        <p:nvSpPr>
          <p:cNvPr id="11" name="Text 9"/>
          <p:cNvSpPr txBox="1"/>
          <p:nvPr/>
        </p:nvSpPr>
        <p:spPr>
          <a:xfrm>
            <a:off x="1097280" y="318211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VPC  —  10.0.0.0/16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080760" y="2606040"/>
            <a:ext cx="0" cy="548640"/>
          </a:xfrm>
          <a:prstGeom prst="line">
            <a:avLst/>
          </a:prstGeom>
          <a:noFill/>
          <a:ln w="15875">
            <a:solidFill>
              <a:srgbClr val="5B647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371600" y="3611880"/>
            <a:ext cx="4297680" cy="2103120"/>
          </a:xfrm>
          <a:prstGeom prst="roundRect">
            <a:avLst>
              <a:gd name="adj" fmla="val 3478"/>
            </a:avLst>
          </a:prstGeom>
          <a:solidFill>
            <a:srgbClr val="EAF2FB"/>
          </a:solidFill>
          <a:ln w="19050">
            <a:solidFill>
              <a:srgbClr val="1C729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554480" y="3730752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Subnet — 10.0.1.0/24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1737360" y="4114800"/>
            <a:ext cx="1554480" cy="1005840"/>
          </a:xfrm>
          <a:prstGeom prst="roundRect">
            <a:avLst>
              <a:gd name="adj" fmla="val 7273"/>
            </a:avLst>
          </a:prstGeom>
          <a:solidFill>
            <a:srgbClr val="1C7293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1737360" y="4114800"/>
            <a:ext cx="1554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EC2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Instance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520440" y="4114800"/>
            <a:ext cx="1874520" cy="1005840"/>
          </a:xfrm>
          <a:prstGeom prst="roundRect">
            <a:avLst>
              <a:gd name="adj" fmla="val 7273"/>
            </a:avLst>
          </a:prstGeom>
          <a:solidFill>
            <a:srgbClr val="D7E6F7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3520440" y="4114800"/>
            <a:ext cx="1874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Route Table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0.0.0.0/0 → IGW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3520440" y="4892040"/>
            <a:ext cx="1874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Associated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6035040" y="3611880"/>
            <a:ext cx="4297680" cy="2103120"/>
          </a:xfrm>
          <a:prstGeom prst="roundRect">
            <a:avLst>
              <a:gd name="adj" fmla="val 3478"/>
            </a:avLst>
          </a:prstGeom>
          <a:solidFill>
            <a:srgbClr val="F5EFE9"/>
          </a:solidFill>
          <a:ln w="19050">
            <a:solidFill>
              <a:srgbClr val="B8895A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217920" y="3730752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 Subnet — 10.0.2.0/24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400800" y="4114800"/>
            <a:ext cx="1737360" cy="1005840"/>
          </a:xfrm>
          <a:prstGeom prst="roundRect">
            <a:avLst>
              <a:gd name="adj" fmla="val 7273"/>
            </a:avLst>
          </a:prstGeom>
          <a:solidFill>
            <a:srgbClr val="B8895A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400800" y="4114800"/>
            <a:ext cx="1737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(private)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8366760" y="4114800"/>
            <a:ext cx="1737360" cy="1005840"/>
          </a:xfrm>
          <a:prstGeom prst="roundRect">
            <a:avLst>
              <a:gd name="adj" fmla="val 7273"/>
            </a:avLst>
          </a:prstGeom>
          <a:solidFill>
            <a:srgbClr val="EDE3D6"/>
          </a:solidFill>
          <a:ln w="12700">
            <a:solidFill>
              <a:srgbClr val="B8895A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8366760" y="4114800"/>
            <a:ext cx="1737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Route Table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(default, local only)</a:t>
            </a:r>
            <a:endParaRPr lang="en-US" sz="1000" dirty="0"/>
          </a:p>
        </p:txBody>
      </p:sp>
      <p:sp>
        <p:nvSpPr>
          <p:cNvPr id="26" name="Text 24"/>
          <p:cNvSpPr txBox="1"/>
          <p:nvPr/>
        </p:nvSpPr>
        <p:spPr>
          <a:xfrm>
            <a:off x="914400" y="605332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App Subnet is explicitly associated with a custom route table that sends 0.0.0.0/0 traffic to the Internet Gateway. The DB Subnet stays on the main route table, keeping it private.</a:t>
            </a:r>
            <a:endParaRPr lang="en-US" sz="1050" dirty="0"/>
          </a:p>
        </p:txBody>
      </p:sp>
      <p:sp>
        <p:nvSpPr>
          <p:cNvPr id="27" name="Text 25"/>
          <p:cNvSpPr txBox="1"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VPC Build Guide</a:t>
            </a:r>
            <a:endParaRPr lang="en-US" sz="900" dirty="0"/>
          </a:p>
        </p:txBody>
      </p:sp>
      <p:sp>
        <p:nvSpPr>
          <p:cNvPr id="28" name="Text 26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256032"/>
            <a:ext cx="548640" cy="548640"/>
          </a:xfrm>
          <a:prstGeom prst="roundRect">
            <a:avLst>
              <a:gd name="adj" fmla="val 20000"/>
            </a:avLst>
          </a:prstGeom>
          <a:solidFill>
            <a:srgbClr val="FF9900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25603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1188720" y="164592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Create the VPC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1188720" y="56692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 OF 8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371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Console path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1645920"/>
            <a:ext cx="5669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VPC console → Your VPCs → Create VPC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2176272"/>
            <a:ext cx="274320" cy="274320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48640" y="21762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960120" y="2148840"/>
            <a:ext cx="630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“VPC only”  —  </a:t>
            </a:r>
            <a:pPr indent="0" marL="0">
              <a:buNone/>
            </a:pPr>
            <a:r>
              <a:rPr lang="en-US" sz="13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the “VPC and more” wizard — we will build each piece manually.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2779776"/>
            <a:ext cx="274320" cy="274320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48640" y="277977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960120" y="2752344"/>
            <a:ext cx="630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tag  —  </a:t>
            </a:r>
            <a:pPr indent="0" marL="0">
              <a:buNone/>
            </a:pPr>
            <a:r>
              <a:rPr lang="en-US" sz="13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custom-app-db-vpc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48640" y="3383280"/>
            <a:ext cx="274320" cy="274320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548640" y="33832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960120" y="3355848"/>
            <a:ext cx="630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IPv4 CIDR block  —  </a:t>
            </a:r>
            <a:pPr indent="0" marL="0">
              <a:buNone/>
            </a:pPr>
            <a:r>
              <a:rPr lang="en-US" sz="13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10.0.0.0/16 (65,536 addresses, enough for both subnets)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48640" y="3986784"/>
            <a:ext cx="274320" cy="274320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548640" y="398678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960120" y="3959352"/>
            <a:ext cx="630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IPv6 CIDR block  —  </a:t>
            </a:r>
            <a:pPr indent="0" marL="0">
              <a:buNone/>
            </a:pPr>
            <a:r>
              <a:rPr lang="en-US" sz="13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IPv6 CIDR block (unless your design needs it)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48640" y="4590288"/>
            <a:ext cx="274320" cy="274320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548640" y="459028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960120" y="4562856"/>
            <a:ext cx="630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Tenancy  —  </a:t>
            </a:r>
            <a:pPr indent="0" marL="0">
              <a:buNone/>
            </a:pPr>
            <a:r>
              <a:rPr lang="en-US" sz="13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548640" y="52578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Create VPC to finish.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7406640" y="1417320"/>
            <a:ext cx="4206240" cy="4297680"/>
          </a:xfrm>
          <a:prstGeom prst="roundRect">
            <a:avLst>
              <a:gd name="adj" fmla="val 2174"/>
            </a:avLst>
          </a:prstGeom>
          <a:solidFill>
            <a:srgbClr val="1E2761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7680960" y="16459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7680960" y="2011680"/>
            <a:ext cx="3566160" cy="2011680"/>
          </a:xfrm>
          <a:prstGeom prst="roundRect">
            <a:avLst>
              <a:gd name="adj" fmla="val 3636"/>
            </a:avLst>
          </a:prstGeom>
          <a:solidFill>
            <a:srgbClr val="24316E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7863840" y="21488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custom-app-db-vpc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7863840" y="25146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10.0.0.0/16</a:t>
            </a:r>
            <a:endParaRPr lang="en-US" sz="1600" dirty="0"/>
          </a:p>
        </p:txBody>
      </p:sp>
      <p:sp>
        <p:nvSpPr>
          <p:cNvPr id="30" name="Text 28"/>
          <p:cNvSpPr txBox="1"/>
          <p:nvPr/>
        </p:nvSpPr>
        <p:spPr>
          <a:xfrm>
            <a:off x="7863840" y="29718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FB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State: Available</a:t>
            </a:r>
            <a:endParaRPr lang="en-US" sz="1100" dirty="0"/>
          </a:p>
        </p:txBody>
      </p:sp>
      <p:sp>
        <p:nvSpPr>
          <p:cNvPr id="31" name="Text 29"/>
          <p:cNvSpPr txBox="1"/>
          <p:nvPr/>
        </p:nvSpPr>
        <p:spPr>
          <a:xfrm>
            <a:off x="7863840" y="32918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FB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Tenancy: Default</a:t>
            </a:r>
            <a:endParaRPr lang="en-US" sz="1100" dirty="0"/>
          </a:p>
        </p:txBody>
      </p:sp>
      <p:sp>
        <p:nvSpPr>
          <p:cNvPr id="32" name="Text 30"/>
          <p:cNvSpPr txBox="1"/>
          <p:nvPr/>
        </p:nvSpPr>
        <p:spPr>
          <a:xfrm>
            <a:off x="7863840" y="36118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FB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DNS hostnames: Disabled</a:t>
            </a:r>
            <a:endParaRPr lang="en-US" sz="1100" dirty="0"/>
          </a:p>
        </p:txBody>
      </p:sp>
      <p:sp>
        <p:nvSpPr>
          <p:cNvPr id="33" name="Text 31"/>
          <p:cNvSpPr txBox="1"/>
          <p:nvPr/>
        </p:nvSpPr>
        <p:spPr>
          <a:xfrm>
            <a:off x="7680960" y="4251960"/>
            <a:ext cx="3657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Tip: enable “DNS hostnames” later (Actions → Edit VPC settings) if your EC2 instance needs a public DNS name.</a:t>
            </a:r>
            <a:endParaRPr lang="en-US" sz="1100" dirty="0"/>
          </a:p>
        </p:txBody>
      </p:sp>
      <p:sp>
        <p:nvSpPr>
          <p:cNvPr id="34" name="Text 32"/>
          <p:cNvSpPr txBox="1"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VPC Build Guide</a:t>
            </a:r>
            <a:endParaRPr lang="en-US" sz="900" dirty="0"/>
          </a:p>
        </p:txBody>
      </p:sp>
      <p:sp>
        <p:nvSpPr>
          <p:cNvPr id="35" name="Text 33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256032"/>
            <a:ext cx="548640" cy="548640"/>
          </a:xfrm>
          <a:prstGeom prst="roundRect">
            <a:avLst>
              <a:gd name="adj" fmla="val 20000"/>
            </a:avLst>
          </a:prstGeom>
          <a:solidFill>
            <a:srgbClr val="FF9900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25603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1188720" y="164592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Create the App and DB Subnets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1188720" y="56692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 OF 8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2801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VPC console → Subnets → Create subnet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16002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custom-app-db-vpc, then add two subnets in the same request: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2148840"/>
            <a:ext cx="5349240" cy="3383280"/>
          </a:xfrm>
          <a:prstGeom prst="roundRect">
            <a:avLst>
              <a:gd name="adj" fmla="val 2703"/>
            </a:avLst>
          </a:prstGeom>
          <a:solidFill>
            <a:srgbClr val="EAF2FB"/>
          </a:solidFill>
          <a:ln w="19050">
            <a:solidFill>
              <a:srgbClr val="1C729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8640" y="2148840"/>
            <a:ext cx="5349240" cy="320040"/>
          </a:xfrm>
          <a:prstGeom prst="roundRect">
            <a:avLst>
              <a:gd name="adj" fmla="val 17143"/>
            </a:avLst>
          </a:prstGeom>
          <a:solidFill>
            <a:srgbClr val="1C729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48640" y="2148840"/>
            <a:ext cx="5349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SUBNET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777240" y="274320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Subnet name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2880360" y="274320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app-subnet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777240" y="3310128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Availability Zone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2880360" y="3310128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us-east-1a (pick one AZ)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777240" y="3877056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IPv4 CIDR block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2880360" y="3877056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10.0.1.0/24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777240" y="4443984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Auto-assign public IPv4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2880360" y="4443984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 after creation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777240" y="5074920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Hosts the EC2 application server — needs a route to the internet.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263640" y="2148840"/>
            <a:ext cx="5349240" cy="3383280"/>
          </a:xfrm>
          <a:prstGeom prst="roundRect">
            <a:avLst>
              <a:gd name="adj" fmla="val 2703"/>
            </a:avLst>
          </a:prstGeom>
          <a:solidFill>
            <a:srgbClr val="F5EFE9"/>
          </a:solidFill>
          <a:ln w="19050">
            <a:solidFill>
              <a:srgbClr val="B8895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263640" y="2148840"/>
            <a:ext cx="5349240" cy="320040"/>
          </a:xfrm>
          <a:prstGeom prst="roundRect">
            <a:avLst>
              <a:gd name="adj" fmla="val 17143"/>
            </a:avLst>
          </a:prstGeom>
          <a:solidFill>
            <a:srgbClr val="B8895A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263640" y="2148840"/>
            <a:ext cx="5349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 SUBNET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6492240" y="274320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Subnet name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8595360" y="274320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db-subnet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6492240" y="3310128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Availability Zone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8595360" y="3310128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us-east-1b (a different AZ)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6492240" y="3877056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IPv4 CIDR block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8595360" y="3877056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10.0.2.0/24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6492240" y="4443984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Auto-assign public IPv4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8595360" y="4443984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disabled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6492240" y="5074920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B889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Stays private — no public IP and no internet route.</a:t>
            </a:r>
            <a:endParaRPr lang="en-US" sz="1100" dirty="0"/>
          </a:p>
        </p:txBody>
      </p:sp>
      <p:sp>
        <p:nvSpPr>
          <p:cNvPr id="33" name="Text 31"/>
          <p:cNvSpPr txBox="1"/>
          <p:nvPr/>
        </p:nvSpPr>
        <p:spPr>
          <a:xfrm>
            <a:off x="548640" y="57150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Create subnet. Both subnets appear under custom-app-db-vpc and are associated with the Main route table by default.</a:t>
            </a:r>
            <a:endParaRPr lang="en-US" sz="1200" dirty="0"/>
          </a:p>
        </p:txBody>
      </p:sp>
      <p:sp>
        <p:nvSpPr>
          <p:cNvPr id="34" name="Text 32"/>
          <p:cNvSpPr txBox="1"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VPC Build Guide</a:t>
            </a:r>
            <a:endParaRPr lang="en-US" sz="900" dirty="0"/>
          </a:p>
        </p:txBody>
      </p:sp>
      <p:sp>
        <p:nvSpPr>
          <p:cNvPr id="35" name="Text 33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256032"/>
            <a:ext cx="548640" cy="548640"/>
          </a:xfrm>
          <a:prstGeom prst="roundRect">
            <a:avLst>
              <a:gd name="adj" fmla="val 20000"/>
            </a:avLst>
          </a:prstGeom>
          <a:solidFill>
            <a:srgbClr val="FF9900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25603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1188720" y="164592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Create and Attach an Internet Gateway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1188720" y="56692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 OF 8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3716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A — Create the gateway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1828800"/>
            <a:ext cx="292608" cy="292608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48640" y="18288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1005840" y="1792224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VPC console → Internet gateways → Create internet gateway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" y="2395728"/>
            <a:ext cx="292608" cy="292608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48640" y="239572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1005840" y="2359152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tag: app-db-igw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2962656"/>
            <a:ext cx="292608" cy="292608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548640" y="296265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1005840" y="292608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Create internet gateway (state starts as Detached)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3666744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B — Attach it to the VPC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48640" y="4123944"/>
            <a:ext cx="292608" cy="292608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548640" y="412394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1005840" y="4087368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app-db-igw → Actions → Attach to VPC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548640" y="4690872"/>
            <a:ext cx="292608" cy="292608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548640" y="469087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1005840" y="4654296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custom-app-db-vpc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548640" y="5257800"/>
            <a:ext cx="292608" cy="292608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548640" y="52578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1005840" y="5221224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Attach internet gateway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6583680" y="1463040"/>
            <a:ext cx="5029200" cy="4206240"/>
          </a:xfrm>
          <a:prstGeom prst="roundRect">
            <a:avLst>
              <a:gd name="adj" fmla="val 2174"/>
            </a:avLst>
          </a:prstGeom>
          <a:solidFill>
            <a:srgbClr val="F4F6FB"/>
          </a:solidFill>
          <a:ln w="12700">
            <a:solidFill>
              <a:srgbClr val="D8DEEB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812280" y="16459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GATEWAY STATE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949440" y="2103120"/>
            <a:ext cx="4480560" cy="777240"/>
          </a:xfrm>
          <a:prstGeom prst="roundRect">
            <a:avLst>
              <a:gd name="adj" fmla="val 9412"/>
            </a:avLst>
          </a:prstGeom>
          <a:solidFill>
            <a:srgbClr val="E7EAF2"/>
          </a:solidFill>
          <a:ln w="12700">
            <a:solidFill>
              <a:srgbClr val="5B6472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7132320" y="21945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app-db-igw</a:t>
            </a:r>
            <a:endParaRPr lang="en-US" sz="1300" dirty="0"/>
          </a:p>
        </p:txBody>
      </p:sp>
      <p:sp>
        <p:nvSpPr>
          <p:cNvPr id="31" name="Text 29"/>
          <p:cNvSpPr txBox="1"/>
          <p:nvPr/>
        </p:nvSpPr>
        <p:spPr>
          <a:xfrm>
            <a:off x="7132320" y="24688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Detached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9189720" y="2880360"/>
            <a:ext cx="0" cy="502920"/>
          </a:xfrm>
          <a:prstGeom prst="line">
            <a:avLst/>
          </a:prstGeom>
          <a:noFill/>
          <a:ln w="25400">
            <a:solidFill>
              <a:srgbClr val="5B6472"/>
            </a:solidFill>
            <a:prstDash val="solid"/>
            <a:tailEnd type="triangle"/>
          </a:ln>
        </p:spPr>
      </p:sp>
      <p:sp>
        <p:nvSpPr>
          <p:cNvPr id="33" name="Text 31"/>
          <p:cNvSpPr txBox="1"/>
          <p:nvPr/>
        </p:nvSpPr>
        <p:spPr>
          <a:xfrm>
            <a:off x="9509760" y="29260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Attach to VPC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6949440" y="3520440"/>
            <a:ext cx="4480560" cy="777240"/>
          </a:xfrm>
          <a:prstGeom prst="roundRect">
            <a:avLst>
              <a:gd name="adj" fmla="val 9412"/>
            </a:avLst>
          </a:prstGeom>
          <a:solidFill>
            <a:srgbClr val="1C7293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7132320" y="36118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app-db-igw</a:t>
            </a:r>
            <a:endParaRPr lang="en-US" sz="1300" dirty="0"/>
          </a:p>
        </p:txBody>
      </p:sp>
      <p:sp>
        <p:nvSpPr>
          <p:cNvPr id="36" name="Text 34"/>
          <p:cNvSpPr txBox="1"/>
          <p:nvPr/>
        </p:nvSpPr>
        <p:spPr>
          <a:xfrm>
            <a:off x="7132320" y="388620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Attached  →  custom-app-db-vpc</a:t>
            </a:r>
            <a:endParaRPr lang="en-US" sz="1100" dirty="0"/>
          </a:p>
        </p:txBody>
      </p:sp>
      <p:sp>
        <p:nvSpPr>
          <p:cNvPr id="37" name="Text 35"/>
          <p:cNvSpPr txBox="1"/>
          <p:nvPr/>
        </p:nvSpPr>
        <p:spPr>
          <a:xfrm>
            <a:off x="6949440" y="4572000"/>
            <a:ext cx="4480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Internet Gateway is a horizontally scaled, redundant AWS component. One IGW attaches to exactly one VPC and provides the target for internet-bound routes.</a:t>
            </a:r>
            <a:endParaRPr lang="en-US" sz="1100" dirty="0"/>
          </a:p>
        </p:txBody>
      </p:sp>
      <p:sp>
        <p:nvSpPr>
          <p:cNvPr id="38" name="Text 36"/>
          <p:cNvSpPr txBox="1"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VPC Build Guide</a:t>
            </a:r>
            <a:endParaRPr lang="en-US" sz="900" dirty="0"/>
          </a:p>
        </p:txBody>
      </p:sp>
      <p:sp>
        <p:nvSpPr>
          <p:cNvPr id="39" name="Text 37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256032"/>
            <a:ext cx="548640" cy="548640"/>
          </a:xfrm>
          <a:prstGeom prst="roundRect">
            <a:avLst>
              <a:gd name="adj" fmla="val 20000"/>
            </a:avLst>
          </a:prstGeom>
          <a:solidFill>
            <a:srgbClr val="FF9900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25603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1188720" y="164592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Create a Custom Route Table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1188720" y="56692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 OF 8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3258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VPC console → Route tables → Create route table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1828800"/>
            <a:ext cx="274320" cy="274320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48640" y="18288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960120" y="1810512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tag:  </a:t>
            </a:r>
            <a:pPr indent="0" marL="0">
              <a:buNone/>
            </a:pPr>
            <a:r>
              <a:rPr lang="en-US" sz="13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app-subnet-rtb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2331720"/>
            <a:ext cx="274320" cy="274320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48640" y="23317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960120" y="2313432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VPC:  </a:t>
            </a:r>
            <a:pPr indent="0" marL="0">
              <a:buNone/>
            </a:pPr>
            <a:r>
              <a:rPr lang="en-US" sz="13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custom-app-db-vpc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28803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Create route table.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33375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the internet route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3749040"/>
            <a:ext cx="292608" cy="292608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48640" y="37490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1005840" y="3712464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app-subnet-rtb → Routes tab → Edit routes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48640" y="4206240"/>
            <a:ext cx="292608" cy="292608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548640" y="42062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1005840" y="4169664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route: Destination 0.0.0.0/0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548640" y="4663440"/>
            <a:ext cx="292608" cy="292608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548640" y="46634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1005840" y="4626864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Internet Gateway → app-db-igw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548640" y="5120640"/>
            <a:ext cx="292608" cy="292608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548640" y="51206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1005840" y="5084064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changes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6858000" y="1463040"/>
            <a:ext cx="4754880" cy="4480560"/>
          </a:xfrm>
          <a:prstGeom prst="roundRect">
            <a:avLst>
              <a:gd name="adj" fmla="val 2041"/>
            </a:avLst>
          </a:prstGeom>
          <a:solidFill>
            <a:srgbClr val="1E2761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7132320" y="169164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app-subnet-rtb</a:t>
            </a:r>
            <a:endParaRPr lang="en-US" sz="1500" dirty="0"/>
          </a:p>
        </p:txBody>
      </p:sp>
      <p:sp>
        <p:nvSpPr>
          <p:cNvPr id="30" name="Text 28"/>
          <p:cNvSpPr txBox="1"/>
          <p:nvPr/>
        </p:nvSpPr>
        <p:spPr>
          <a:xfrm>
            <a:off x="7132320" y="205740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FB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table  •  custom-app-db-vpc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7132320" y="2514600"/>
            <a:ext cx="4206240" cy="365760"/>
          </a:xfrm>
          <a:prstGeom prst="rect">
            <a:avLst/>
          </a:prstGeom>
          <a:solidFill>
            <a:srgbClr val="24316E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7269480" y="251460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Destination</a:t>
            </a:r>
            <a:endParaRPr lang="en-US" sz="1100" dirty="0"/>
          </a:p>
        </p:txBody>
      </p:sp>
      <p:sp>
        <p:nvSpPr>
          <p:cNvPr id="33" name="Text 31"/>
          <p:cNvSpPr txBox="1"/>
          <p:nvPr/>
        </p:nvSpPr>
        <p:spPr>
          <a:xfrm>
            <a:off x="9281160" y="251460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7132320" y="2880360"/>
            <a:ext cx="4206240" cy="411480"/>
          </a:xfrm>
          <a:prstGeom prst="rect">
            <a:avLst/>
          </a:prstGeom>
          <a:solidFill>
            <a:srgbClr val="1A2358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7269480" y="288036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10.0.0.0/16</a:t>
            </a:r>
            <a:endParaRPr lang="en-US" sz="1100" dirty="0"/>
          </a:p>
        </p:txBody>
      </p:sp>
      <p:sp>
        <p:nvSpPr>
          <p:cNvPr id="36" name="Text 34"/>
          <p:cNvSpPr txBox="1"/>
          <p:nvPr/>
        </p:nvSpPr>
        <p:spPr>
          <a:xfrm>
            <a:off x="9281160" y="288036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local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7132320" y="3291840"/>
            <a:ext cx="4206240" cy="411480"/>
          </a:xfrm>
          <a:prstGeom prst="rect">
            <a:avLst/>
          </a:prstGeom>
          <a:solidFill>
            <a:srgbClr val="24316E"/>
          </a:solidFill>
          <a:ln/>
        </p:spPr>
      </p:sp>
      <p:sp>
        <p:nvSpPr>
          <p:cNvPr id="38" name="Text 36"/>
          <p:cNvSpPr txBox="1"/>
          <p:nvPr/>
        </p:nvSpPr>
        <p:spPr>
          <a:xfrm>
            <a:off x="7269480" y="329184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99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0.0.0.0/0</a:t>
            </a:r>
            <a:endParaRPr lang="en-US" sz="1100" dirty="0"/>
          </a:p>
        </p:txBody>
      </p:sp>
      <p:sp>
        <p:nvSpPr>
          <p:cNvPr id="39" name="Text 37"/>
          <p:cNvSpPr txBox="1"/>
          <p:nvPr/>
        </p:nvSpPr>
        <p:spPr>
          <a:xfrm>
            <a:off x="9281160" y="329184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99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igw-app-db-igw</a:t>
            </a:r>
            <a:endParaRPr lang="en-US" sz="1100" dirty="0"/>
          </a:p>
        </p:txBody>
      </p:sp>
      <p:sp>
        <p:nvSpPr>
          <p:cNvPr id="40" name="Text 38"/>
          <p:cNvSpPr txBox="1"/>
          <p:nvPr/>
        </p:nvSpPr>
        <p:spPr>
          <a:xfrm>
            <a:off x="7132320" y="3931920"/>
            <a:ext cx="4206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route is what makes it a “custom” route table — it will send all non-local traffic out through the Internet Gateway once associated with a subnet.</a:t>
            </a:r>
            <a:endParaRPr lang="en-US" sz="1100" dirty="0"/>
          </a:p>
        </p:txBody>
      </p:sp>
      <p:sp>
        <p:nvSpPr>
          <p:cNvPr id="41" name="Text 39"/>
          <p:cNvSpPr txBox="1"/>
          <p:nvPr/>
        </p:nvSpPr>
        <p:spPr>
          <a:xfrm>
            <a:off x="7132320" y="5120640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FB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yet associated with any subnet — that's the next step.</a:t>
            </a:r>
            <a:endParaRPr lang="en-US" sz="1100" dirty="0"/>
          </a:p>
        </p:txBody>
      </p:sp>
      <p:sp>
        <p:nvSpPr>
          <p:cNvPr id="42" name="Text 40"/>
          <p:cNvSpPr txBox="1"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VPC Build Guide</a:t>
            </a:r>
            <a:endParaRPr lang="en-US" sz="900" dirty="0"/>
          </a:p>
        </p:txBody>
      </p:sp>
      <p:sp>
        <p:nvSpPr>
          <p:cNvPr id="43" name="Text 41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256032"/>
            <a:ext cx="548640" cy="548640"/>
          </a:xfrm>
          <a:prstGeom prst="roundRect">
            <a:avLst>
              <a:gd name="adj" fmla="val 20000"/>
            </a:avLst>
          </a:prstGeom>
          <a:solidFill>
            <a:srgbClr val="FF9900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25603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1188720" y="164592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Associate the App Subnet with the Custom Route Table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1188720" y="56692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5 OF 8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325880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VPC console → Route tables → app-subnet-rtb → Subnet associations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1874520"/>
            <a:ext cx="292608" cy="292608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48640" y="18745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1005840" y="1837944"/>
            <a:ext cx="5394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the Subnet associations tab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2459736"/>
            <a:ext cx="292608" cy="292608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48640" y="24597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1005840" y="2423160"/>
            <a:ext cx="5394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Edit subnet associations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3044952"/>
            <a:ext cx="292608" cy="292608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548640" y="304495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1005840" y="3008376"/>
            <a:ext cx="5394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the box next to app-subnet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48640" y="3630168"/>
            <a:ext cx="292608" cy="292608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548640" y="363016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1005840" y="3593592"/>
            <a:ext cx="5394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Leave db-subnet unchecked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48640" y="4215384"/>
            <a:ext cx="292608" cy="292608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548640" y="421538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1005840" y="4178808"/>
            <a:ext cx="5394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Save associations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548640" y="4937760"/>
            <a:ext cx="5760720" cy="1051560"/>
          </a:xfrm>
          <a:prstGeom prst="roundRect">
            <a:avLst>
              <a:gd name="adj" fmla="val 6957"/>
            </a:avLst>
          </a:prstGeom>
          <a:solidFill>
            <a:srgbClr val="FDF3E3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31520" y="5029200"/>
            <a:ext cx="5394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not the DB subnet?  Leaving db-subnet on the VPC's Main route table (local-only, no IGW route) keeps the database unreachable from the internet — a private-subnet pattern.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6675120" y="1463040"/>
            <a:ext cx="4937760" cy="4663440"/>
          </a:xfrm>
          <a:prstGeom prst="roundRect">
            <a:avLst>
              <a:gd name="adj" fmla="val 1961"/>
            </a:avLst>
          </a:prstGeom>
          <a:solidFill>
            <a:srgbClr val="F4F6FB"/>
          </a:solidFill>
          <a:ln w="12700">
            <a:solidFill>
              <a:srgbClr val="D8DEEB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903720" y="16459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SUBNET ASSOCIATIONS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949440" y="2103120"/>
            <a:ext cx="1920240" cy="640080"/>
          </a:xfrm>
          <a:prstGeom prst="roundRect">
            <a:avLst>
              <a:gd name="adj" fmla="val 11429"/>
            </a:avLst>
          </a:prstGeom>
          <a:solidFill>
            <a:srgbClr val="1C7293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6949440" y="210312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app-subnet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8869680" y="2423160"/>
            <a:ext cx="502920" cy="0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9372600" y="2103120"/>
            <a:ext cx="2148840" cy="640080"/>
          </a:xfrm>
          <a:prstGeom prst="roundRect">
            <a:avLst>
              <a:gd name="adj" fmla="val 11429"/>
            </a:avLst>
          </a:prstGeom>
          <a:solidFill>
            <a:srgbClr val="1E2761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9372600" y="2103120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app-subnet-rtb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(custom)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949440" y="3063240"/>
            <a:ext cx="1920240" cy="640080"/>
          </a:xfrm>
          <a:prstGeom prst="roundRect">
            <a:avLst>
              <a:gd name="adj" fmla="val 11429"/>
            </a:avLst>
          </a:prstGeom>
          <a:solidFill>
            <a:srgbClr val="B8895A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6949440" y="306324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db-subnet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8869680" y="3383280"/>
            <a:ext cx="502920" cy="0"/>
          </a:xfrm>
          <a:prstGeom prst="line">
            <a:avLst/>
          </a:prstGeom>
          <a:noFill/>
          <a:ln w="25400">
            <a:solidFill>
              <a:srgbClr val="B8895A"/>
            </a:solidFill>
            <a:prstDash val="solid"/>
            <a:tailEnd type="triangle"/>
          </a:ln>
        </p:spPr>
      </p:sp>
      <p:sp>
        <p:nvSpPr>
          <p:cNvPr id="35" name="Shape 33"/>
          <p:cNvSpPr/>
          <p:nvPr/>
        </p:nvSpPr>
        <p:spPr>
          <a:xfrm>
            <a:off x="9372600" y="3063240"/>
            <a:ext cx="2148840" cy="640080"/>
          </a:xfrm>
          <a:prstGeom prst="roundRect">
            <a:avLst>
              <a:gd name="adj" fmla="val 11429"/>
            </a:avLst>
          </a:prstGeom>
          <a:solidFill>
            <a:srgbClr val="8A8F98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9372600" y="3063240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route table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(default, local only)</a:t>
            </a:r>
            <a:endParaRPr lang="en-US" sz="1050" dirty="0"/>
          </a:p>
        </p:txBody>
      </p:sp>
      <p:sp>
        <p:nvSpPr>
          <p:cNvPr id="37" name="Text 35"/>
          <p:cNvSpPr txBox="1"/>
          <p:nvPr/>
        </p:nvSpPr>
        <p:spPr>
          <a:xfrm>
            <a:off x="6949440" y="402336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</a:t>
            </a:r>
            <a:endParaRPr lang="en-US" sz="1200" dirty="0"/>
          </a:p>
        </p:txBody>
      </p:sp>
      <p:sp>
        <p:nvSpPr>
          <p:cNvPr id="38" name="Text 36"/>
          <p:cNvSpPr txBox="1"/>
          <p:nvPr/>
        </p:nvSpPr>
        <p:spPr>
          <a:xfrm>
            <a:off x="6949440" y="4343400"/>
            <a:ext cx="4480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app-subnet can now reach 0.0.0.0/0 via the Internet Gateway. db-subnet still has no path to the internet.</a:t>
            </a:r>
            <a:endParaRPr lang="en-US" sz="1200" dirty="0"/>
          </a:p>
        </p:txBody>
      </p:sp>
      <p:sp>
        <p:nvSpPr>
          <p:cNvPr id="39" name="Text 37"/>
          <p:cNvSpPr txBox="1"/>
          <p:nvPr/>
        </p:nvSpPr>
        <p:spPr>
          <a:xfrm>
            <a:off x="6949440" y="5212080"/>
            <a:ext cx="4480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subnet can only be associated with one route table at a time (either explicitly, or implicitly via the Main table).</a:t>
            </a:r>
            <a:endParaRPr lang="en-US" sz="1050" dirty="0"/>
          </a:p>
        </p:txBody>
      </p:sp>
      <p:sp>
        <p:nvSpPr>
          <p:cNvPr id="40" name="Text 38"/>
          <p:cNvSpPr txBox="1"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VPC Build Guide</a:t>
            </a:r>
            <a:endParaRPr lang="en-US" sz="900" dirty="0"/>
          </a:p>
        </p:txBody>
      </p:sp>
      <p:sp>
        <p:nvSpPr>
          <p:cNvPr id="41" name="Text 39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256032"/>
            <a:ext cx="548640" cy="548640"/>
          </a:xfrm>
          <a:prstGeom prst="roundRect">
            <a:avLst>
              <a:gd name="adj" fmla="val 20000"/>
            </a:avLst>
          </a:prstGeom>
          <a:solidFill>
            <a:srgbClr val="FF9900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25603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1188720" y="164592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Launch an EC2 Instance in the App Subnet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1188720" y="56692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6 OF 8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2801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EC2 console → Instances → Launch instances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169164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3429000" y="169164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app-server-01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2093976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AMI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3429000" y="2093976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Linux 2023 (or your preferred AMI)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2496312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Instance type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3429000" y="2496312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t3.micro (Free-tier eligible)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2898648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pair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3429000" y="2898648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Create/select a key pair for SSH access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3300984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settings — Edit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3429000" y="3300984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370332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VPC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3429000" y="370332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custom-app-db-vpc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4105656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Subnet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3429000" y="4105656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app-subnet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548640" y="4507992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Auto-assign public IP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3429000" y="4507992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548640" y="4910328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Security group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3429000" y="4910328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 SSH (22) from your IP; HTTP (80) if web-facing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548640" y="538581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Launch instance.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7818120" y="1417320"/>
            <a:ext cx="3840480" cy="4709160"/>
          </a:xfrm>
          <a:prstGeom prst="roundRect">
            <a:avLst>
              <a:gd name="adj" fmla="val 2381"/>
            </a:avLst>
          </a:prstGeom>
          <a:solidFill>
            <a:srgbClr val="1E2761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8046720" y="160020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INSTANCE LAUNCHED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8046720" y="1965960"/>
            <a:ext cx="3383280" cy="1371600"/>
          </a:xfrm>
          <a:prstGeom prst="roundRect">
            <a:avLst>
              <a:gd name="adj" fmla="val 5333"/>
            </a:avLst>
          </a:prstGeom>
          <a:solidFill>
            <a:srgbClr val="1C7293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8183880" y="208483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app-server-01</a:t>
            </a:r>
            <a:endParaRPr lang="en-US" sz="1300" dirty="0"/>
          </a:p>
        </p:txBody>
      </p:sp>
      <p:sp>
        <p:nvSpPr>
          <p:cNvPr id="31" name="Text 29"/>
          <p:cNvSpPr txBox="1"/>
          <p:nvPr/>
        </p:nvSpPr>
        <p:spPr>
          <a:xfrm>
            <a:off x="8183880" y="242316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t3.micro  •  app-subnet</a:t>
            </a:r>
            <a:endParaRPr lang="en-US" sz="1050" dirty="0"/>
          </a:p>
        </p:txBody>
      </p:sp>
      <p:sp>
        <p:nvSpPr>
          <p:cNvPr id="32" name="Text 30"/>
          <p:cNvSpPr txBox="1"/>
          <p:nvPr/>
        </p:nvSpPr>
        <p:spPr>
          <a:xfrm>
            <a:off x="8183880" y="272491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IP: assigned</a:t>
            </a:r>
            <a:endParaRPr lang="en-US" sz="1050" dirty="0"/>
          </a:p>
        </p:txBody>
      </p:sp>
      <p:sp>
        <p:nvSpPr>
          <p:cNvPr id="33" name="Text 31"/>
          <p:cNvSpPr txBox="1"/>
          <p:nvPr/>
        </p:nvSpPr>
        <p:spPr>
          <a:xfrm>
            <a:off x="8183880" y="299923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State: running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9738360" y="3337560"/>
            <a:ext cx="0" cy="365760"/>
          </a:xfrm>
          <a:prstGeom prst="line">
            <a:avLst/>
          </a:prstGeom>
          <a:noFill/>
          <a:ln w="25400">
            <a:solidFill>
              <a:srgbClr val="9FB0D8"/>
            </a:solidFill>
            <a:prstDash val="solid"/>
            <a:tailEnd type="triangle"/>
          </a:ln>
        </p:spPr>
      </p:sp>
      <p:sp>
        <p:nvSpPr>
          <p:cNvPr id="35" name="Shape 33"/>
          <p:cNvSpPr/>
          <p:nvPr/>
        </p:nvSpPr>
        <p:spPr>
          <a:xfrm>
            <a:off x="8046720" y="3703320"/>
            <a:ext cx="3383280" cy="502920"/>
          </a:xfrm>
          <a:prstGeom prst="roundRect">
            <a:avLst>
              <a:gd name="adj" fmla="val 10909"/>
            </a:avLst>
          </a:prstGeom>
          <a:solidFill>
            <a:srgbClr val="24316E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8046720" y="370332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app-subnet-rtb  (0.0.0.0/0 → IGW)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9738360" y="4206240"/>
            <a:ext cx="0" cy="365760"/>
          </a:xfrm>
          <a:prstGeom prst="line">
            <a:avLst/>
          </a:prstGeom>
          <a:noFill/>
          <a:ln w="25400">
            <a:solidFill>
              <a:srgbClr val="9FB0D8"/>
            </a:solidFill>
            <a:prstDash val="solid"/>
            <a:tailEnd type="triangle"/>
          </a:ln>
        </p:spPr>
      </p:sp>
      <p:sp>
        <p:nvSpPr>
          <p:cNvPr id="38" name="Shape 36"/>
          <p:cNvSpPr/>
          <p:nvPr/>
        </p:nvSpPr>
        <p:spPr>
          <a:xfrm>
            <a:off x="8046720" y="4572000"/>
            <a:ext cx="3383280" cy="502920"/>
          </a:xfrm>
          <a:prstGeom prst="roundRect">
            <a:avLst>
              <a:gd name="adj" fmla="val 10909"/>
            </a:avLst>
          </a:prstGeom>
          <a:solidFill>
            <a:srgbClr val="FF9900"/>
          </a:solidFill>
          <a:ln/>
        </p:spPr>
      </p:sp>
      <p:sp>
        <p:nvSpPr>
          <p:cNvPr id="39" name="Text 37"/>
          <p:cNvSpPr txBox="1"/>
          <p:nvPr/>
        </p:nvSpPr>
        <p:spPr>
          <a:xfrm>
            <a:off x="8046720" y="457200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Internet Gateway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9738360" y="5074920"/>
            <a:ext cx="0" cy="320040"/>
          </a:xfrm>
          <a:prstGeom prst="line">
            <a:avLst/>
          </a:prstGeom>
          <a:noFill/>
          <a:ln w="25400">
            <a:solidFill>
              <a:srgbClr val="9FB0D8"/>
            </a:solidFill>
            <a:prstDash val="solid"/>
            <a:tailEnd type="triangle"/>
          </a:ln>
        </p:spPr>
      </p:sp>
      <p:sp>
        <p:nvSpPr>
          <p:cNvPr id="41" name="Text 39"/>
          <p:cNvSpPr txBox="1"/>
          <p:nvPr/>
        </p:nvSpPr>
        <p:spPr>
          <a:xfrm>
            <a:off x="8046720" y="539496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Internet</a:t>
            </a:r>
            <a:endParaRPr lang="en-US" sz="1200" dirty="0"/>
          </a:p>
        </p:txBody>
      </p:sp>
      <p:sp>
        <p:nvSpPr>
          <p:cNvPr id="42" name="Text 40"/>
          <p:cNvSpPr txBox="1"/>
          <p:nvPr/>
        </p:nvSpPr>
        <p:spPr>
          <a:xfrm>
            <a:off x="8046720" y="580644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9FB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via SSH using the instance's public IP and your key pair.</a:t>
            </a:r>
            <a:endParaRPr lang="en-US" sz="950" dirty="0"/>
          </a:p>
        </p:txBody>
      </p:sp>
      <p:sp>
        <p:nvSpPr>
          <p:cNvPr id="43" name="Text 41"/>
          <p:cNvSpPr txBox="1"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VPC Build Guide</a:t>
            </a:r>
            <a:endParaRPr lang="en-US" sz="900" dirty="0"/>
          </a:p>
        </p:txBody>
      </p:sp>
      <p:sp>
        <p:nvSpPr>
          <p:cNvPr id="44" name="Text 42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Verify &amp; Recap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CHECKLIST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292608" cy="292608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5544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005840" y="1527048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VPC custom-app-db-vpc created with CIDR 10.0.0.0/16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2084832"/>
            <a:ext cx="292608" cy="292608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48640" y="208483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1005840" y="205740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app-subnet (10.0.1.0/24) and db-subnet (10.0.2.0/24) created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2615184"/>
            <a:ext cx="292608" cy="292608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48640" y="261518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1005840" y="2587752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Internet gateway app-db-igw created and attached to the VPC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48640" y="3145536"/>
            <a:ext cx="292608" cy="292608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48640" y="31455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1005840" y="3118104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app-subnet-rtb created with route 0.0.0.0/0 → app-db-igw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48640" y="3675888"/>
            <a:ext cx="292608" cy="292608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48640" y="367588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1005840" y="3648456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app-subnet explicitly associated with app-subnet-rtb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48640" y="4206240"/>
            <a:ext cx="292608" cy="292608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548640" y="42062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1005840" y="4178808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EC2 instance running in app-subnet with a public IP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548640" y="4736592"/>
            <a:ext cx="292608" cy="292608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548640" y="473659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1005840" y="470916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SSH/HTTP reachable from the internet; db-subnet stays private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9052560" y="1554480"/>
            <a:ext cx="2651760" cy="4023360"/>
          </a:xfrm>
          <a:prstGeom prst="roundRect">
            <a:avLst>
              <a:gd name="adj" fmla="val 3448"/>
            </a:avLst>
          </a:prstGeom>
          <a:solidFill>
            <a:srgbClr val="24316E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9189720" y="16916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Internet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10378440" y="1965960"/>
            <a:ext cx="0" cy="274320"/>
          </a:xfrm>
          <a:prstGeom prst="line">
            <a:avLst/>
          </a:prstGeom>
          <a:noFill/>
          <a:ln w="19050">
            <a:solidFill>
              <a:srgbClr val="CADCFC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9189720" y="2240280"/>
            <a:ext cx="2377440" cy="457200"/>
          </a:xfrm>
          <a:prstGeom prst="roundRect">
            <a:avLst>
              <a:gd name="adj" fmla="val 12000"/>
            </a:avLst>
          </a:prstGeom>
          <a:solidFill>
            <a:srgbClr val="FF9900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9189720" y="224028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IGW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10378440" y="2697480"/>
            <a:ext cx="0" cy="274320"/>
          </a:xfrm>
          <a:prstGeom prst="line">
            <a:avLst/>
          </a:prstGeom>
          <a:noFill/>
          <a:ln w="19050">
            <a:solidFill>
              <a:srgbClr val="CADCFC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9189720" y="2971800"/>
            <a:ext cx="2377440" cy="548640"/>
          </a:xfrm>
          <a:prstGeom prst="roundRect">
            <a:avLst>
              <a:gd name="adj" fmla="val 10000"/>
            </a:avLst>
          </a:prstGeom>
          <a:solidFill>
            <a:srgbClr val="1C7293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9189720" y="297180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app-subnet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EC2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9189720" y="3794760"/>
            <a:ext cx="2377440" cy="548640"/>
          </a:xfrm>
          <a:prstGeom prst="roundRect">
            <a:avLst>
              <a:gd name="adj" fmla="val 10000"/>
            </a:avLst>
          </a:prstGeom>
          <a:solidFill>
            <a:srgbClr val="B8895A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9189720" y="379476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db-subnet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(private)</a:t>
            </a:r>
            <a:endParaRPr lang="en-US" sz="1050" dirty="0"/>
          </a:p>
        </p:txBody>
      </p:sp>
      <p:sp>
        <p:nvSpPr>
          <p:cNvPr id="35" name="Text 33"/>
          <p:cNvSpPr txBox="1"/>
          <p:nvPr/>
        </p:nvSpPr>
        <p:spPr>
          <a:xfrm>
            <a:off x="9189720" y="443484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9FB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internet route</a:t>
            </a:r>
            <a:endParaRPr lang="en-US" sz="900" dirty="0"/>
          </a:p>
        </p:txBody>
      </p:sp>
      <p:sp>
        <p:nvSpPr>
          <p:cNvPr id="36" name="Text 34"/>
          <p:cNvSpPr txBox="1"/>
          <p:nvPr/>
        </p:nvSpPr>
        <p:spPr>
          <a:xfrm>
            <a:off x="548640" y="585216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FB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Clean-up reminder: terminate the EC2 instance and detach/delete the IGW, route table, subnets, and VPC when you're done to avoid ongoing charges.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2026-09-07T05:27:15Z</dcterms:created>
  <dcterms:modified xsi:type="dcterms:W3CDTF">2026-09-07T05:27:15Z</dcterms:modified>
</cp:coreProperties>
</file>