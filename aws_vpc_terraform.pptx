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1A2530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572000"/>
            <a:ext cx="4023360" cy="4023360"/>
          </a:xfrm>
          <a:prstGeom prst="ellipse">
            <a:avLst/>
          </a:prstGeom>
          <a:solidFill>
            <a:srgbClr val="1A2530"/>
          </a:solidFill>
          <a:ln/>
        </p:spPr>
      </p:sp>
      <p:sp>
        <p:nvSpPr>
          <p:cNvPr id="4" name="Shape 2"/>
          <p:cNvSpPr/>
          <p:nvPr/>
        </p:nvSpPr>
        <p:spPr>
          <a:xfrm>
            <a:off x="10561320" y="4709160"/>
            <a:ext cx="822960" cy="82296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· AWS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331720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a Public VPC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Terraform on AWS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416052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7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walkthrough of the gopal-project infrastructure-as-code: VPC, multi-AZ subnets, internet gateway, and routing — provisioned entirely from HCL.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5806440"/>
            <a:ext cx="502920" cy="54864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5943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Region: us-east-1        Provider: hashicorp/aws ~&gt; 6.0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We're Provisioning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349240" y="1325880"/>
            <a:ext cx="1463040" cy="777240"/>
          </a:xfrm>
          <a:prstGeom prst="ellipse">
            <a:avLst/>
          </a:prstGeom>
          <a:solidFill>
            <a:srgbClr val="F2F3F3"/>
          </a:solidFill>
          <a:ln w="12700">
            <a:solidFill>
              <a:srgbClr val="D3D7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49240" y="1325880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080760" y="2103120"/>
            <a:ext cx="0" cy="502920"/>
          </a:xfrm>
          <a:prstGeom prst="line">
            <a:avLst/>
          </a:prstGeom>
          <a:noFill/>
          <a:ln w="19050">
            <a:solidFill>
              <a:srgbClr val="5A6472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5074920" y="2606040"/>
            <a:ext cx="2011680" cy="594360"/>
          </a:xfrm>
          <a:prstGeom prst="roundRect">
            <a:avLst>
              <a:gd name="adj" fmla="val 12308"/>
            </a:avLst>
          </a:prstGeom>
          <a:solidFill>
            <a:srgbClr val="232F3E"/>
          </a:solidFill>
          <a:ln/>
        </p:spPr>
      </p:sp>
      <p:sp>
        <p:nvSpPr>
          <p:cNvPr id="8" name="Text 6"/>
          <p:cNvSpPr/>
          <p:nvPr/>
        </p:nvSpPr>
        <p:spPr>
          <a:xfrm>
            <a:off x="5074920" y="260604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Gateway (igw)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80760" y="3200400"/>
            <a:ext cx="0" cy="411480"/>
          </a:xfrm>
          <a:prstGeom prst="line">
            <a:avLst/>
          </a:prstGeom>
          <a:noFill/>
          <a:ln w="19050">
            <a:solidFill>
              <a:srgbClr val="5A647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46320" y="3611880"/>
            <a:ext cx="2468880" cy="548640"/>
          </a:xfrm>
          <a:prstGeom prst="roundRect">
            <a:avLst>
              <a:gd name="adj" fmla="val 13333"/>
            </a:avLst>
          </a:prstGeom>
          <a:solidFill>
            <a:srgbClr val="FF9900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36118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Table  ·  0.0.0.0/0 → igw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005840" y="4434840"/>
            <a:ext cx="10149840" cy="1965960"/>
          </a:xfrm>
          <a:prstGeom prst="roundRect">
            <a:avLst>
              <a:gd name="adj" fmla="val 4651"/>
            </a:avLst>
          </a:prstGeom>
          <a:solidFill>
            <a:srgbClr val="EAF1FF"/>
          </a:solidFill>
          <a:ln w="19050">
            <a:solidFill>
              <a:srgbClr val="527FFF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1234440" y="45262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 ·  10.0.0.0/16  (gopal-vpc)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80760" y="4160520"/>
            <a:ext cx="0" cy="274320"/>
          </a:xfrm>
          <a:prstGeom prst="line">
            <a:avLst/>
          </a:prstGeom>
          <a:noFill/>
          <a:ln w="19050">
            <a:solidFill>
              <a:srgbClr val="5A647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417320" y="4983480"/>
            <a:ext cx="3063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527FFF"/>
            </a:solidFill>
            <a:prstDash val="solid"/>
          </a:ln>
          <a:effectLst>
            <a:outerShdw sx="100000" sy="100000" kx="0" ky="0" algn="bl" rotWithShape="0" blurRad="50800" dist="25400" dir="5400000">
              <a:srgbClr val="8A93A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417320" y="507492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subnet1  ·  public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417320" y="539496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10.0.1.0/24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417320" y="568756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us-east-1a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00600" y="4983480"/>
            <a:ext cx="3063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527FFF"/>
            </a:solidFill>
            <a:prstDash val="solid"/>
          </a:ln>
          <a:effectLst>
            <a:outerShdw sx="100000" sy="100000" kx="0" ky="0" algn="bl" rotWithShape="0" blurRad="50800" dist="25400" dir="5400000">
              <a:srgbClr val="8A93A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00600" y="507492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subnet2  ·  public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800600" y="539496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10.0.2.0/24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00600" y="568756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us-east-1b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183880" y="4983480"/>
            <a:ext cx="3063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527FFF"/>
            </a:solidFill>
            <a:prstDash val="solid"/>
          </a:ln>
          <a:effectLst>
            <a:outerShdw sx="100000" sy="100000" kx="0" ky="0" algn="bl" rotWithShape="0" blurRad="50800" dist="25400" dir="5400000">
              <a:srgbClr val="8A93A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183880" y="507492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subnet3  ·  public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183880" y="539496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10.0.3.0/24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183880" y="568756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us-east-1c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162495" y="6510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gopal-project · AWS VPC on Terraform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Provider &amp; Terraform Block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6400800" cy="4480560"/>
          </a:xfrm>
          <a:prstGeom prst="roundRect">
            <a:avLst>
              <a:gd name="adj" fmla="val 1633"/>
            </a:avLst>
          </a:prstGeom>
          <a:solidFill>
            <a:srgbClr val="1A253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28800"/>
            <a:ext cx="58521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 {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required_providers {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aws = {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source  = "hashicorp/aws"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version = "~&gt; 6.0"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provider "aws" {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region = var.aws_region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0" y="1673352"/>
            <a:ext cx="146304" cy="146304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7" name="Text 5"/>
          <p:cNvSpPr/>
          <p:nvPr/>
        </p:nvSpPr>
        <p:spPr>
          <a:xfrm>
            <a:off x="7635240" y="153619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Pinned provider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635240" y="1865376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~&gt; 6.0 allows patch/minor upgrades but blocks breaking major-version changes.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315200" y="3090672"/>
            <a:ext cx="146304" cy="146304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0" name="Text 8"/>
          <p:cNvSpPr/>
          <p:nvPr/>
        </p:nvSpPr>
        <p:spPr>
          <a:xfrm>
            <a:off x="7635240" y="295351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as a variable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635240" y="3282696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isn't hard-coded — it comes from var.aws_region, defaulting to us-east-1.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315200" y="4507992"/>
            <a:ext cx="146304" cy="146304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3" name="Text 11"/>
          <p:cNvSpPr/>
          <p:nvPr/>
        </p:nvSpPr>
        <p:spPr>
          <a:xfrm>
            <a:off x="7635240" y="437083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provider block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635240" y="4700016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AWS provider configures every resource in the root module.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162495" y="6510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gopal-project · AWS VPC on Terraform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Variables &amp; Tagging Strategy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5852160" cy="4206240"/>
        </p:xfrm>
        <a:graphic>
          <a:graphicData uri="http://schemas.openxmlformats.org/drawingml/2006/table">
            <a:tbl>
              <a:tblPr/>
              <a:tblGrid>
                <a:gridCol w="3108960"/>
                <a:gridCol w="27432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aws_region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us-east-1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vpc_name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gopal-vpc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subnet_name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gopal-subnet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subnet_cidr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10.0.1.0/24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project_name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gopal-project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environment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3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675120" y="1600200"/>
            <a:ext cx="5029200" cy="2148840"/>
          </a:xfrm>
          <a:prstGeom prst="roundRect">
            <a:avLst>
              <a:gd name="adj" fmla="val 3404"/>
            </a:avLst>
          </a:prstGeom>
          <a:solidFill>
            <a:srgbClr val="1A2530"/>
          </a:solidFill>
          <a:ln/>
        </p:spPr>
      </p:sp>
      <p:sp>
        <p:nvSpPr>
          <p:cNvPr id="6" name="Text 3"/>
          <p:cNvSpPr/>
          <p:nvPr/>
        </p:nvSpPr>
        <p:spPr>
          <a:xfrm>
            <a:off x="6949440" y="17373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locals.project_tags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949440" y="2103120"/>
            <a:ext cx="45720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       = "${project_name}-${environment}"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     = var.project_name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Environment = var.environment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675120" y="3977640"/>
            <a:ext cx="5029200" cy="457200"/>
          </a:xfrm>
          <a:prstGeom prst="rect">
            <a:avLst/>
          </a:prstGeom>
          <a:solidFill>
            <a:srgbClr val="FFF3D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32F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gopal-project-dev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675120" y="452628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resource re-derives its Name tag from one local — change project_name or environment once, and every tag updates.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162495" y="6510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gopal-project · AWS VPC on Terraform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NETWORK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VPC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6035040" cy="3246120"/>
          </a:xfrm>
          <a:prstGeom prst="roundRect">
            <a:avLst>
              <a:gd name="adj" fmla="val 2254"/>
            </a:avLst>
          </a:prstGeom>
          <a:solidFill>
            <a:srgbClr val="1A253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74520"/>
            <a:ext cx="54864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"aws_vpc" "my_vpc" {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cidr_block = "10.0.0.0/16"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tags = {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 = var.vpc_name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903720" y="1737360"/>
            <a:ext cx="48463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78040" y="1847088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/16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8778240" y="1920240"/>
            <a:ext cx="2834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CIDR block — 65,536 addresses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903720" y="3474720"/>
            <a:ext cx="48463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78040" y="3584448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8778240" y="3657600"/>
            <a:ext cx="2834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VPC, referenced by every other resource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51206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aws_vpc.my_vpc.id is read by the subnets, the internet gateway, and (implicitly) the route table — every downstream resource depends on this one block.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162495" y="6510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gopal-project · AWS VPC on Terraform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NETWORK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Subnets — a for_each over a Map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5212080" cy="4480560"/>
          </a:xfrm>
          <a:prstGeom prst="roundRect">
            <a:avLst>
              <a:gd name="adj" fmla="val 1633"/>
            </a:avLst>
          </a:prstGeom>
          <a:solidFill>
            <a:srgbClr val="1A2530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737360"/>
            <a:ext cx="475488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variable "subnets" {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type = map(object({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cidr_block        = string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availability_zone = string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subnet_type       = string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}))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"aws_subnet" "web_subnet" {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for_each = var.subnets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vpc_id            = aws_vpc.my_vpc.id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cidr_block        = each.value.cidr_block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availability_zone = each.value.availability_zone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tags = {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 = "${local.project_tags.Name}-${each.key}"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89320" y="1600200"/>
          <a:ext cx="5715000" cy="1920240"/>
        </p:xfrm>
        <a:graphic>
          <a:graphicData uri="http://schemas.openxmlformats.org/drawingml/2006/table">
            <a:tbl>
              <a:tblPr/>
              <a:tblGrid>
                <a:gridCol w="1737360"/>
                <a:gridCol w="2148840"/>
                <a:gridCol w="18288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CIDR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subnet1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10.0.1.0/24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us-east-1a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subnet2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10.0.2.0/24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us-east-1b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subnet3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10.0.3.0/24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us-east-1c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989320" y="3794760"/>
            <a:ext cx="5715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for_each instead of count?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989320" y="4160520"/>
            <a:ext cx="57150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each.key becomes the resource's stable address (aws_subnet.web_subnet["subnet2"]) instead of a shifting index.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or removing a subnet from the map won't force Terraform to recreate its siblings.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each.value.cidr_block / .availability_zone read cleanly off the object.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162495" y="6510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gopal-project · AWS VPC on Terraform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Internet Gateway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6035040" cy="2743200"/>
          </a:xfrm>
          <a:prstGeom prst="roundRect">
            <a:avLst>
              <a:gd name="adj" fmla="val 2667"/>
            </a:avLst>
          </a:prstGeom>
          <a:solidFill>
            <a:srgbClr val="1A253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28800"/>
            <a:ext cx="548640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"aws_internet_gateway" "igw" {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vpc_id = aws_vpc.my_vpc.id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tags = {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 = "${local.project_tags.Name}-igw"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 "igw_id" {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value = aws_internet_gateway.igw.id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675120" y="2011680"/>
            <a:ext cx="1371600" cy="1005840"/>
          </a:xfrm>
          <a:prstGeom prst="roundRect">
            <a:avLst>
              <a:gd name="adj" fmla="val 7273"/>
            </a:avLst>
          </a:prstGeom>
          <a:solidFill>
            <a:srgbClr val="527FFF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011680"/>
            <a:ext cx="1371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10.0.0.0/16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8046720" y="2514600"/>
            <a:ext cx="411480" cy="0"/>
          </a:xfrm>
          <a:prstGeom prst="line">
            <a:avLst/>
          </a:prstGeom>
          <a:noFill/>
          <a:ln w="22225">
            <a:solidFill>
              <a:srgbClr val="5A6472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8458200" y="2011680"/>
            <a:ext cx="1371600" cy="1005840"/>
          </a:xfrm>
          <a:prstGeom prst="roundRect">
            <a:avLst>
              <a:gd name="adj" fmla="val 7273"/>
            </a:avLst>
          </a:prstGeom>
          <a:solidFill>
            <a:srgbClr val="232F3E"/>
          </a:solidFill>
          <a:ln/>
        </p:spPr>
      </p:sp>
      <p:sp>
        <p:nvSpPr>
          <p:cNvPr id="10" name="Text 8"/>
          <p:cNvSpPr/>
          <p:nvPr/>
        </p:nvSpPr>
        <p:spPr>
          <a:xfrm>
            <a:off x="8458200" y="2011680"/>
            <a:ext cx="1371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9829800" y="2514600"/>
            <a:ext cx="411480" cy="0"/>
          </a:xfrm>
          <a:prstGeom prst="line">
            <a:avLst/>
          </a:prstGeom>
          <a:noFill/>
          <a:ln w="22225">
            <a:solidFill>
              <a:srgbClr val="5A6472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0241280" y="2011680"/>
            <a:ext cx="1371600" cy="1005840"/>
          </a:xfrm>
          <a:prstGeom prst="roundRect">
            <a:avLst>
              <a:gd name="adj" fmla="val 7273"/>
            </a:avLst>
          </a:prstGeom>
          <a:solidFill>
            <a:srgbClr val="FF9900"/>
          </a:solidFill>
          <a:ln/>
        </p:spPr>
      </p:sp>
      <p:sp>
        <p:nvSpPr>
          <p:cNvPr id="13" name="Text 11"/>
          <p:cNvSpPr/>
          <p:nvPr/>
        </p:nvSpPr>
        <p:spPr>
          <a:xfrm>
            <a:off x="10241280" y="2011680"/>
            <a:ext cx="1371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4663440"/>
            <a:ext cx="11247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IGW attaches directly to the VPC — it's the single door between 10.0.0.0/16 and the outside world; every route to 0.0.0.0/0 has to point here.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162495" y="6510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gopal-project · AWS VPC on Terraform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 Table &amp; Association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5943600" cy="4480560"/>
          </a:xfrm>
          <a:prstGeom prst="roundRect">
            <a:avLst>
              <a:gd name="adj" fmla="val 1633"/>
            </a:avLst>
          </a:prstGeom>
          <a:solidFill>
            <a:srgbClr val="1A2530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755648"/>
            <a:ext cx="548640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"aws_route_table" "custom_rtb" {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vpc_id = aws_vpc.my_vpc.id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route {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cidr_block = "0.0.0.0/0"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gateway_id = aws_internet_gateway.igw.id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tags = {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 = "${local.project_tags.Name}-rtb"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"aws_route_table_association" "custom_rtb_association" {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for_each = aws_subnet.web_subnet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subnet_id      = each.value.id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route_table_id = aws_route_table.custom_rtb.id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772400" y="1737360"/>
            <a:ext cx="3383280" cy="594360"/>
          </a:xfrm>
          <a:prstGeom prst="roundRect">
            <a:avLst>
              <a:gd name="adj" fmla="val 12308"/>
            </a:avLst>
          </a:prstGeom>
          <a:solidFill>
            <a:srgbClr val="FF9900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0" y="173736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custom_rtb  (0.0.0.0/0 → igw)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464040" y="2331720"/>
            <a:ext cx="0" cy="502920"/>
          </a:xfrm>
          <a:prstGeom prst="line">
            <a:avLst/>
          </a:prstGeom>
          <a:noFill/>
          <a:ln w="15875">
            <a:solidFill>
              <a:srgbClr val="5A6472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8229600" y="2834640"/>
            <a:ext cx="2468880" cy="502920"/>
          </a:xfrm>
          <a:prstGeom prst="roundRect">
            <a:avLst>
              <a:gd name="adj" fmla="val 10909"/>
            </a:avLst>
          </a:prstGeom>
          <a:solidFill>
            <a:srgbClr val="EAF1FF"/>
          </a:solidFill>
          <a:ln w="12700">
            <a:solidFill>
              <a:srgbClr val="527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0" y="28346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subnet1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464040" y="2331720"/>
            <a:ext cx="0" cy="1280160"/>
          </a:xfrm>
          <a:prstGeom prst="line">
            <a:avLst/>
          </a:prstGeom>
          <a:noFill/>
          <a:ln w="15875">
            <a:solidFill>
              <a:srgbClr val="5A6472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8229600" y="3611880"/>
            <a:ext cx="2468880" cy="502920"/>
          </a:xfrm>
          <a:prstGeom prst="roundRect">
            <a:avLst>
              <a:gd name="adj" fmla="val 10909"/>
            </a:avLst>
          </a:prstGeom>
          <a:solidFill>
            <a:srgbClr val="EAF1FF"/>
          </a:solidFill>
          <a:ln w="12700">
            <a:solidFill>
              <a:srgbClr val="527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36118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subnet2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464040" y="2331720"/>
            <a:ext cx="0" cy="2057400"/>
          </a:xfrm>
          <a:prstGeom prst="line">
            <a:avLst/>
          </a:prstGeom>
          <a:noFill/>
          <a:ln w="15875">
            <a:solidFill>
              <a:srgbClr val="5A6472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8229600" y="4389120"/>
            <a:ext cx="2468880" cy="502920"/>
          </a:xfrm>
          <a:prstGeom prst="roundRect">
            <a:avLst>
              <a:gd name="adj" fmla="val 10909"/>
            </a:avLst>
          </a:prstGeom>
          <a:solidFill>
            <a:srgbClr val="EAF1FF"/>
          </a:solidFill>
          <a:ln w="12700">
            <a:solidFill>
              <a:srgbClr val="527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0" y="43891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subnet3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72400" y="539496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Associating every subnet in the map with the same for_each keeps the two resources in lock-step: add a fourth subnet later and it's routed automatically — no extra association block to remember.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162495" y="6510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gopal-project · AWS VPC on Terraform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112471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057400"/>
            <a:ext cx="292608" cy="292608"/>
          </a:xfrm>
          <a:prstGeom prst="ellipse">
            <a:avLst/>
          </a:prstGeom>
          <a:solidFill>
            <a:srgbClr val="1F8A44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0574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34440" y="1819656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F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 "vpc_id"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34440" y="2194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 = aws_vpc.my_vpc.id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961120" y="1691640"/>
            <a:ext cx="2560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1F8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971800"/>
            <a:ext cx="112471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3337560"/>
            <a:ext cx="292608" cy="292608"/>
          </a:xfrm>
          <a:prstGeom prst="ellipse">
            <a:avLst/>
          </a:prstGeom>
          <a:solidFill>
            <a:srgbClr val="1F8A44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3375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234440" y="3099816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F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 "igw_id"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34440" y="3474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 = aws_internet_gateway.igw.id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961120" y="2971800"/>
            <a:ext cx="2560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1F8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251960"/>
            <a:ext cx="11247120" cy="1051560"/>
          </a:xfrm>
          <a:prstGeom prst="roundRect">
            <a:avLst>
              <a:gd name="adj" fmla="val 6957"/>
            </a:avLst>
          </a:prstGeom>
          <a:solidFill>
            <a:srgbClr val="EDEDED"/>
          </a:solidFill>
          <a:ln w="12700">
            <a:solidFill>
              <a:srgbClr val="D3D3D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4617720"/>
            <a:ext cx="292608" cy="292608"/>
          </a:xfrm>
          <a:prstGeom prst="ellipse">
            <a:avLst/>
          </a:prstGeom>
          <a:solidFill>
            <a:srgbClr val="9AA0A6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6177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34440" y="4379976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F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 "subnet_id"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34440" y="47548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 = aws_subnet.web_subnet.id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961120" y="4251960"/>
            <a:ext cx="2560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commented out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162495" y="6510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gopal-project · AWS VPC on Terraform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1A253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Small Stack, a Repeatable Pattern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1A2530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167128"/>
            <a:ext cx="128016" cy="128016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1938528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VPC, three variables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937760" y="1938528"/>
            <a:ext cx="6309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7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vpc_name, subnet_name, and subnet_cidr keep the network parameterized instead of hard-coded.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999232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1A2530"/>
          </a:solidFill>
          <a:ln/>
        </p:spPr>
      </p:sp>
      <p:sp>
        <p:nvSpPr>
          <p:cNvPr id="10" name="Shape 8"/>
          <p:cNvSpPr/>
          <p:nvPr/>
        </p:nvSpPr>
        <p:spPr>
          <a:xfrm>
            <a:off x="822960" y="3337560"/>
            <a:ext cx="128016" cy="128016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310896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for_each over count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937760" y="3108960"/>
            <a:ext cx="6309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7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the subnets and their route table associations key off the same map — resize the fleet in one place.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169664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1A2530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4507992"/>
            <a:ext cx="128016" cy="128016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5" name="Text 13"/>
          <p:cNvSpPr/>
          <p:nvPr/>
        </p:nvSpPr>
        <p:spPr>
          <a:xfrm>
            <a:off x="1143000" y="4279392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tagging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937760" y="4279392"/>
            <a:ext cx="6309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7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locals.project_tags derives every Name tag from project_name and environment.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5340096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1A2530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5678424"/>
            <a:ext cx="128016" cy="128016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9" name="Text 17"/>
          <p:cNvSpPr/>
          <p:nvPr/>
        </p:nvSpPr>
        <p:spPr>
          <a:xfrm>
            <a:off x="1143000" y="5449824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Public-only today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4937760" y="5449824"/>
            <a:ext cx="6309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7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subnets route to the IGW — a natural next step is a NAT gateway for private workloads.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2026-09-09T04:05:19Z</dcterms:created>
  <dcterms:modified xsi:type="dcterms:W3CDTF">2026-09-09T04:05:19Z</dcterms:modified>
</cp:coreProperties>
</file>