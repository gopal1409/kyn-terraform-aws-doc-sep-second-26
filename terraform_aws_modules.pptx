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6202B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16202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 ×  AMAZON WEB 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Terraform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on AWS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76072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module pattern: networking, security groups, compute, and load balancing — composed into one production-ready stack.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" y="507492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5C4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507492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29968" y="507492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507492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67912" y="507492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5C4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5074920"/>
            <a:ext cx="9646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33772" y="5074920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3772" y="5074920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modularize Terraform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2037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Reuse, consistency, and safer change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5623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module anatomy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78040" y="22037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main.tf, variables.tf, outputs.tf, versions.tf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10712"/>
            <a:ext cx="566928" cy="5669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337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3758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→ security group → compute → load balancer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41071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337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building-block modules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78040" y="3758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security group, compute, load balancer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965192"/>
            <a:ext cx="566928" cy="5669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65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892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Composing the root module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00200" y="531266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module outputs into module inputs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7091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96519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965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state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178040" y="531266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backend, versioning, validation, guardrails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Modularize Terraform?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E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550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environments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2082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VPC / SG / compute / ALB logic once, call it for dev, staging, and prod with different inputs.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EB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791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reviewable changes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to the security-group module is reviewed once and rolls out everywhere it's used.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E6F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blast radius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a focused set of resources, so state and permissions can be scoped tightly.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EB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727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building blocks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09320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expose typed inputs/outputs, so teams wire them together like functions.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17830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0" y="2286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0" y="2834640"/>
            <a:ext cx="-1042416" cy="502920"/>
          </a:xfrm>
          <a:prstGeom prst="line">
            <a:avLst/>
          </a:prstGeom>
          <a:noFill/>
          <a:ln w="19050">
            <a:solidFill>
              <a:srgbClr val="3D4C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337560"/>
            <a:ext cx="841248" cy="777240"/>
          </a:xfrm>
          <a:prstGeom prst="roundRect">
            <a:avLst>
              <a:gd name="adj" fmla="val 9412"/>
            </a:avLst>
          </a:prstGeom>
          <a:solidFill>
            <a:srgbClr val="2C3B4E"/>
          </a:solidFill>
          <a:ln w="12700">
            <a:solidFill>
              <a:srgbClr val="3D4C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3337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01200" y="2834640"/>
            <a:ext cx="0" cy="502920"/>
          </a:xfrm>
          <a:prstGeom prst="line">
            <a:avLst/>
          </a:prstGeom>
          <a:noFill/>
          <a:ln w="19050">
            <a:solidFill>
              <a:srgbClr val="3D4C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0576" y="3337560"/>
            <a:ext cx="841248" cy="777240"/>
          </a:xfrm>
          <a:prstGeom prst="roundRect">
            <a:avLst>
              <a:gd name="adj" fmla="val 9412"/>
            </a:avLst>
          </a:prstGeom>
          <a:solidFill>
            <a:srgbClr val="2C3B4E"/>
          </a:solidFill>
          <a:ln w="12700">
            <a:solidFill>
              <a:srgbClr val="3D4C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3337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1200" y="2834640"/>
            <a:ext cx="1042416" cy="502920"/>
          </a:xfrm>
          <a:prstGeom prst="line">
            <a:avLst/>
          </a:prstGeom>
          <a:noFill/>
          <a:ln w="19050">
            <a:solidFill>
              <a:srgbClr val="3D4C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22992" y="3337560"/>
            <a:ext cx="841248" cy="777240"/>
          </a:xfrm>
          <a:prstGeom prst="roundRect">
            <a:avLst>
              <a:gd name="adj" fmla="val 9412"/>
            </a:avLst>
          </a:prstGeom>
          <a:solidFill>
            <a:srgbClr val="2C3B4E"/>
          </a:solidFill>
          <a:ln w="12700">
            <a:solidFill>
              <a:srgbClr val="3D4C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2992" y="3337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1812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source, different tfvars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Module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5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928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networking/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C4EE5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350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642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definitions — the actual AWS objects the module creates.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0358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3284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input variables with descriptions, defaults, and validation.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C4EE5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7216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014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exposed to callers (IDs, ARNs, DNS names).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4074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700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Terraform and provider version constraints.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C4EE5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5093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53858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example, inputs/outputs reference (terraform-docs).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691640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856232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24" name="Shape 22"/>
          <p:cNvSpPr/>
          <p:nvPr/>
        </p:nvSpPr>
        <p:spPr>
          <a:xfrm>
            <a:off x="6391656" y="18013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74536" y="18013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6757416" y="18013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691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9672" y="2112264"/>
            <a:ext cx="488289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Terraform &amp; provider versions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required_version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 1.7.0"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"hashicorp/aws"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"~&gt; 5.0"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Four Modules Build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41848" y="1325880"/>
            <a:ext cx="914400" cy="822960"/>
          </a:xfrm>
          <a:prstGeom prst="ellipse">
            <a:avLst/>
          </a:prstGeom>
          <a:solidFill>
            <a:srgbClr val="2C3B4E"/>
          </a:solidFill>
          <a:ln w="12700">
            <a:solidFill>
              <a:srgbClr val="3D4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41848" y="1325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4476" y="2148840"/>
            <a:ext cx="0" cy="411480"/>
          </a:xfrm>
          <a:prstGeom prst="line">
            <a:avLst/>
          </a:prstGeom>
          <a:noFill/>
          <a:ln w="25400">
            <a:solidFill>
              <a:srgbClr val="5C6B7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560320"/>
            <a:ext cx="10360152" cy="3611880"/>
          </a:xfrm>
          <a:prstGeom prst="roundRect">
            <a:avLst>
              <a:gd name="adj" fmla="val 2025"/>
            </a:avLst>
          </a:prstGeom>
          <a:solidFill>
            <a:srgbClr val="1B2530"/>
          </a:solidFill>
          <a:ln w="15875">
            <a:solidFill>
              <a:srgbClr val="3D4C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 ·  10.0.0.0/16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71432" y="26517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4333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71432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module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88720" y="2926080"/>
            <a:ext cx="9811512" cy="1051560"/>
          </a:xfrm>
          <a:prstGeom prst="roundRect">
            <a:avLst>
              <a:gd name="adj" fmla="val 6087"/>
            </a:avLst>
          </a:prstGeom>
          <a:solidFill>
            <a:srgbClr val="22303D"/>
          </a:solidFill>
          <a:ln w="12700">
            <a:solidFill>
              <a:srgbClr val="374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999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 (multi-AZ)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0036" y="3273552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60036" y="32735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57516" y="3392424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2426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7516" y="3392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load_balancer module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94476" y="3977640"/>
            <a:ext cx="0" cy="137160"/>
          </a:xfrm>
          <a:prstGeom prst="line">
            <a:avLst/>
          </a:prstGeom>
          <a:noFill/>
          <a:ln w="25400">
            <a:solidFill>
              <a:srgbClr val="5C6B7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88720" y="4114800"/>
            <a:ext cx="9811512" cy="1874520"/>
          </a:xfrm>
          <a:prstGeom prst="roundRect">
            <a:avLst>
              <a:gd name="adj" fmla="val 3415"/>
            </a:avLst>
          </a:prstGeom>
          <a:solidFill>
            <a:srgbClr val="22303D"/>
          </a:solidFill>
          <a:ln w="12700">
            <a:solidFill>
              <a:srgbClr val="37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 (multi-AZ)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63040" y="4498848"/>
            <a:ext cx="9262872" cy="1307592"/>
          </a:xfrm>
          <a:prstGeom prst="roundRect">
            <a:avLst>
              <a:gd name="adj" fmla="val 4895"/>
            </a:avLst>
          </a:prstGeom>
          <a:ln w="19050">
            <a:solidFill>
              <a:srgbClr val="FF99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600200" y="4352544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3A2E12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352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security_group module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85616" y="4841748"/>
            <a:ext cx="1234440" cy="713232"/>
          </a:xfrm>
          <a:prstGeom prst="roundRect">
            <a:avLst>
              <a:gd name="adj" fmla="val 11538"/>
            </a:avLst>
          </a:prstGeom>
          <a:solidFill>
            <a:srgbClr val="5C4EE5"/>
          </a:solidFill>
          <a:ln/>
        </p:spPr>
      </p:sp>
      <p:sp>
        <p:nvSpPr>
          <p:cNvPr id="24" name="Text 22"/>
          <p:cNvSpPr/>
          <p:nvPr/>
        </p:nvSpPr>
        <p:spPr>
          <a:xfrm>
            <a:off x="3785616" y="484174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77256" y="4841748"/>
            <a:ext cx="1234440" cy="713232"/>
          </a:xfrm>
          <a:prstGeom prst="roundRect">
            <a:avLst>
              <a:gd name="adj" fmla="val 11538"/>
            </a:avLst>
          </a:prstGeom>
          <a:solidFill>
            <a:srgbClr val="5C4EE5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484174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68896" y="4841748"/>
            <a:ext cx="1234440" cy="713232"/>
          </a:xfrm>
          <a:prstGeom prst="roundRect">
            <a:avLst>
              <a:gd name="adj" fmla="val 11538"/>
            </a:avLst>
          </a:prstGeom>
          <a:solidFill>
            <a:srgbClr val="5C4EE5"/>
          </a:solidFill>
          <a:ln/>
        </p:spPr>
      </p:sp>
      <p:sp>
        <p:nvSpPr>
          <p:cNvPr id="28" name="Text 26"/>
          <p:cNvSpPr/>
          <p:nvPr/>
        </p:nvSpPr>
        <p:spPr>
          <a:xfrm>
            <a:off x="7168896" y="484174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77072" y="5660136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2A2445"/>
          </a:solidFill>
          <a:ln w="12700">
            <a:solidFill>
              <a:srgbClr val="5C4E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7072" y="56601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module (ASG)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8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9814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9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NETWORKING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VPC, Subnets &amp; Routing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59105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159105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59105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481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modules/networking/main.tf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1901952"/>
            <a:ext cx="48828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vpc_cidr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public_subnets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each.value.cidr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each.value.az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map_public_ip_on_launch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"aws_internet_gateway"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9293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VPC plus public and private subnets across multiple availability zones.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437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715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an Internet Gateway and route tables so public subnets can reach the internet.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63016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50215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vpc_id, public_subnet_ids, and private_subnet_ids as outputs for the other modules.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024835" cy="32918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024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SECURITY GROUP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Locking Down Network Access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63640" y="148132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4813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1645920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59105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574536" y="159105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757416" y="159105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481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modules/security_group/main.tf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19672" y="1901952"/>
            <a:ext cx="48828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"aws_security_group"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"${var.name}-web-sg"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"tcp"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security_groups = [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alb_sg_id]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egress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to_port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cidr_blocks = [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"0.0.0.0/0"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9293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least-privilege ingress: web tier only accepts traffic from the ALB's security group.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715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rule sets for the ALB SG (80/443 from the internet) and the web SG (from ALB only).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0168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0215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both the compute and load balancer modules via its output security_group_id.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33549" cy="329184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33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COMPUTE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Template &amp; Auto Scaling Group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59105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159105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59105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481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modules/compute/main.tf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1901952"/>
            <a:ext cx="48828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"aws_launch_template"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name_prefix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"${var.name}-"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image_id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vpc_security_group_ids = [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security_group_id]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"aws_autoscaling_group"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desired_capacity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min_size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max_size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vpc_zone_identifier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private_subnet_ids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target_group_arns   = [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target_group_arn]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launch_template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aws_launch_template.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"$Latest"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91440" cy="9144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9293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packages the AMI, instance type, and security group into one versioned spec.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43784"/>
            <a:ext cx="91440" cy="9144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715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Scaling Group spreads instances across private subnets and scales between 2 and 6.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630168"/>
            <a:ext cx="91440" cy="9144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50215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directly with the load balancer's target group — no manual attachment step.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LOAD BALANCER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ALB, Target Group &amp; Listener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63640" y="148132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4813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1645920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59105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574536" y="159105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757416" y="159105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481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modules/load_balancer/main.tf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19672" y="1901952"/>
            <a:ext cx="48828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load_balancer_type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security_groups    = [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alb_sg_id]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subnets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public_subnet_ids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"aws_lb_target_group"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protocol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health_check { path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"/health"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"aws_lb_listener"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load_balancer_arn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this.arn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default_action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"forward"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target_group_arn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aws_lb_target_group.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app.arn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9293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Application Load Balancer terminates traffic in the public subnets.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715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group with a /health check backs the listener and receives ASG instance registrations.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01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0215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 ALB DNS name and target_group_arn for the compute module to consume.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It Together in the Root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607040" cy="4709160"/>
          </a:xfrm>
          <a:prstGeom prst="roundRect">
            <a:avLst>
              <a:gd name="adj" fmla="val 1553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060704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27632"/>
            <a:ext cx="1060704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5727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5727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 (root)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883664"/>
            <a:ext cx="1009497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"networking"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"./modules/networking"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"security_group"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"./modules/security_group"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module.networking.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vpc_id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← from networking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"load_balancer"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"./modules/load_balancer"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module.networking.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public_subnet_ids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module.networking.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public_subnet_ids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alb_sg_id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module.security_group.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alb_sg_id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"compute"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"./modules/compute"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security_group_id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module.security_group.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web_sg_id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private_subnet_ids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module.networking.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private_subnet_ids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target_group_arn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module.load_balancer.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target_group_arn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← from LB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Outputs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81328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10161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94960" cy="164592"/>
          </a:xfrm>
          <a:prstGeom prst="rect">
            <a:avLst/>
          </a:prstGeom>
          <a:solidFill>
            <a:srgbClr val="10161F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9105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59105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59105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81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48828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"instance_type"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"EC2 instance type"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"t3.micro"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= contains(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["t3.micro", "t3.small"],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var.instance_type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error_message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"Unsupported size."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 identifier"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this.id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8E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84848" y="1664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variable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4848" y="19842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string, number, list(), map(), or object({...}) — never leave a variable untyped.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7157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EBC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4848" y="26883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the 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30083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blocks catch bad input before any AWS API call is made.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739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8E6F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84848" y="37124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40325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and output gets a description; generate reference docs with terraform-docs.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7640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EBC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84848" y="47365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 what's needed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5056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IDs and ARNs that downstream modules or humans actually consume.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THE MODULES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Remote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backend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 in S3 with a DynamoDB table for locking — never commit .tfstate to git.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every version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0" y="258775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Terraform binary, the AWS provider, and each module source to a version.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C4EE5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before apply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473659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in CI on every pull request; require review before terraform apply.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00800" y="473659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merges with tflint and checkov to catch drift and security misconfigurations early.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6202B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1620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76072" y="3337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modules, composed into one repeatable AWS stack — networking, security group, compute, and load balancer.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" y="429768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429768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29968" y="429768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429768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67912" y="429768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5C4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4297680"/>
            <a:ext cx="9646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33772" y="4297680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3772" y="4297680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· AWS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2026-09-11T03:54:30Z</dcterms:created>
  <dcterms:modified xsi:type="dcterms:W3CDTF">2026-09-11T03:54:30Z</dcterms:modified>
</cp:coreProperties>
</file>